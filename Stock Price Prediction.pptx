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bold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  <p:embeddedFont>
      <p:font typeface="Montserrat Light"/>
      <p:regular r:id="rId32"/>
      <p:bold r:id="rId33"/>
      <p:italic r:id="rId34"/>
      <p:boldItalic r:id="rId35"/>
    </p:embeddedFont>
    <p:embeddedFont>
      <p:font typeface="Montserrat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hhfHcy6HP+A1Qona4SaXmqkZCg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85F7F7-3823-4906-A7B7-1DBE18F132E8}">
  <a:tblStyle styleId="{9285F7F7-3823-4906-A7B7-1DBE18F132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Ligh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Ligh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Light-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ExtraBold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Extra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87199d6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87199d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842c6e4b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842c6e4b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25efd6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925efd68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e9774ae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8e9774aed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e9774ae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8e9774aed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8e9774ae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a8e9774aed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8e9774a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a8e9774ae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8e9774ae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8e9774aed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8e9774ae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8e9774aed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8e9774ae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8e9774aed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8e9774aed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a8e9774aed_0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e9774ae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8e9774aed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8f473776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8f4737761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0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11" Type="http://schemas.openxmlformats.org/officeDocument/2006/relationships/image" Target="../media/image21.png"/><Relationship Id="rId10" Type="http://schemas.openxmlformats.org/officeDocument/2006/relationships/image" Target="../media/image24.png"/><Relationship Id="rId12" Type="http://schemas.openxmlformats.org/officeDocument/2006/relationships/image" Target="../media/image26.png"/><Relationship Id="rId9" Type="http://schemas.openxmlformats.org/officeDocument/2006/relationships/image" Target="../media/image17.png"/><Relationship Id="rId5" Type="http://schemas.openxmlformats.org/officeDocument/2006/relationships/image" Target="../media/image34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hyperlink" Target="https://www.zotero.org/google-docs/?broken=amxATd" TargetMode="External"/><Relationship Id="rId5" Type="http://schemas.openxmlformats.org/officeDocument/2006/relationships/hyperlink" Target="https://www.zotero.org/google-docs/?CZSDmb" TargetMode="External"/><Relationship Id="rId6" Type="http://schemas.openxmlformats.org/officeDocument/2006/relationships/image" Target="../media/image13.png"/><Relationship Id="rId7" Type="http://schemas.openxmlformats.org/officeDocument/2006/relationships/hyperlink" Target="https://www.zotero.org/google-docs/?xA7H2u" TargetMode="External"/><Relationship Id="rId8" Type="http://schemas.openxmlformats.org/officeDocument/2006/relationships/hyperlink" Target="https://www.zotero.org/google-docs/?xA7H2u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32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44.png"/><Relationship Id="rId6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 rot="240000">
            <a:off x="5715000" y="2324100"/>
            <a:ext cx="1193800" cy="1193800"/>
          </a:xfrm>
          <a:prstGeom prst="rect">
            <a:avLst/>
          </a:prstGeom>
          <a:noFill/>
          <a:ln>
            <a:noFill/>
          </a:ln>
          <a:effectLst>
            <a:outerShdw blurRad="28234" dir="2700000" dist="119058">
              <a:srgbClr val="161616">
                <a:alpha val="34901"/>
              </a:srgbClr>
            </a:outerShdw>
          </a:effectLst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2500" y="2578100"/>
            <a:ext cx="4965700" cy="4965700"/>
          </a:xfrm>
          <a:prstGeom prst="rect">
            <a:avLst/>
          </a:prstGeom>
          <a:noFill/>
          <a:ln>
            <a:noFill/>
          </a:ln>
          <a:effectLst>
            <a:outerShdw blurRad="674322" dir="2700000" dist="610705">
              <a:srgbClr val="3B4C82">
                <a:alpha val="35686"/>
              </a:srgbClr>
            </a:outerShdw>
          </a:effectLst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0600" y="4038600"/>
            <a:ext cx="41275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640000">
            <a:off x="1841500" y="5194300"/>
            <a:ext cx="1079500" cy="1079500"/>
          </a:xfrm>
          <a:prstGeom prst="rect">
            <a:avLst/>
          </a:prstGeom>
          <a:noFill/>
          <a:ln>
            <a:noFill/>
          </a:ln>
          <a:effectLst>
            <a:outerShdw blurRad="23355" dir="2700000" dist="108284">
              <a:srgbClr val="161616">
                <a:alpha val="34901"/>
              </a:srgbClr>
            </a:outerShdw>
          </a:effectLst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6400" y="9867900"/>
            <a:ext cx="118618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title="stock-pric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87000" y="3954400"/>
            <a:ext cx="2614700" cy="26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">
            <a:off x="5842000" y="5461000"/>
            <a:ext cx="1384300" cy="1384300"/>
          </a:xfrm>
          <a:prstGeom prst="rect">
            <a:avLst/>
          </a:prstGeom>
          <a:noFill/>
          <a:ln>
            <a:noFill/>
          </a:ln>
          <a:effectLst>
            <a:outerShdw blurRad="37842" dir="2700000" dist="212054">
              <a:srgbClr val="161616">
                <a:alpha val="27843"/>
              </a:srgbClr>
            </a:outerShdw>
          </a:effectLst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73500" y="3479800"/>
            <a:ext cx="1485900" cy="1485900"/>
          </a:xfrm>
          <a:prstGeom prst="rect">
            <a:avLst/>
          </a:prstGeom>
          <a:noFill/>
          <a:ln>
            <a:noFill/>
          </a:ln>
          <a:effectLst>
            <a:outerShdw blurRad="43677" dir="2700000" dist="148082">
              <a:srgbClr val="161616">
                <a:alpha val="34901"/>
              </a:srgbClr>
            </a:outerShdw>
          </a:effectLst>
        </p:spPr>
      </p:pic>
      <p:sp>
        <p:nvSpPr>
          <p:cNvPr id="92" name="Google Shape;92;p1"/>
          <p:cNvSpPr txBox="1"/>
          <p:nvPr/>
        </p:nvSpPr>
        <p:spPr>
          <a:xfrm>
            <a:off x="7810500" y="6569100"/>
            <a:ext cx="91017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Minseo Kim, Jihong Min, Dayoon Lee</a:t>
            </a:r>
            <a:endParaRPr sz="2800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810500" y="3766550"/>
            <a:ext cx="9945900" cy="29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Stock Price Prediction</a:t>
            </a:r>
            <a:endParaRPr sz="50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SemiBold"/>
                <a:ea typeface="Montserrat SemiBold"/>
                <a:cs typeface="Montserrat SemiBold"/>
                <a:sym typeface="Montserrat SemiBold"/>
              </a:rPr>
              <a:t>with</a:t>
            </a: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5000">
                <a:latin typeface="Montserrat ExtraBold"/>
                <a:ea typeface="Montserrat ExtraBold"/>
                <a:cs typeface="Montserrat ExtraBold"/>
                <a:sym typeface="Montserrat ExtraBold"/>
              </a:rPr>
              <a:t>Cross-Firm Integration</a:t>
            </a:r>
            <a:endParaRPr sz="50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a842c6e4b2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200" y="2870200"/>
            <a:ext cx="1638300" cy="1638300"/>
          </a:xfrm>
          <a:prstGeom prst="rect">
            <a:avLst/>
          </a:prstGeom>
          <a:noFill/>
          <a:ln>
            <a:noFill/>
          </a:ln>
          <a:effectLst>
            <a:outerShdw blurRad="53776" dir="2700000" dist="227508">
              <a:srgbClr val="161616">
                <a:alpha val="11760"/>
              </a:srgbClr>
            </a:outerShdw>
          </a:effectLst>
        </p:spPr>
      </p:pic>
      <p:sp>
        <p:nvSpPr>
          <p:cNvPr id="103" name="Google Shape;103;g3a842c6e4b2_0_3"/>
          <p:cNvSpPr txBox="1"/>
          <p:nvPr/>
        </p:nvSpPr>
        <p:spPr>
          <a:xfrm>
            <a:off x="3429000" y="4648200"/>
            <a:ext cx="3657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INDEX</a:t>
            </a:r>
            <a:endParaRPr/>
          </a:p>
        </p:txBody>
      </p:sp>
      <p:grpSp>
        <p:nvGrpSpPr>
          <p:cNvPr id="104" name="Google Shape;104;g3a842c6e4b2_0_3"/>
          <p:cNvGrpSpPr/>
          <p:nvPr/>
        </p:nvGrpSpPr>
        <p:grpSpPr>
          <a:xfrm>
            <a:off x="10023275" y="1639875"/>
            <a:ext cx="7912050" cy="6007100"/>
            <a:chOff x="9994900" y="1282700"/>
            <a:chExt cx="7912050" cy="6007100"/>
          </a:xfrm>
        </p:grpSpPr>
        <p:pic>
          <p:nvPicPr>
            <p:cNvPr id="105" name="Google Shape;105;g3a842c6e4b2_0_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45700" y="25654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r="2700000" dist="137746">
                <a:srgbClr val="3B4C82">
                  <a:alpha val="22750"/>
                </a:srgbClr>
              </a:outerShdw>
            </a:effectLst>
          </p:spPr>
        </p:pic>
        <p:pic>
          <p:nvPicPr>
            <p:cNvPr id="106" name="Google Shape;106;g3a842c6e4b2_0_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045700" y="38481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r="2700000" dist="137746">
                <a:srgbClr val="3B4C82">
                  <a:alpha val="22750"/>
                </a:srgbClr>
              </a:outerShdw>
            </a:effectLst>
          </p:spPr>
        </p:pic>
        <p:pic>
          <p:nvPicPr>
            <p:cNvPr id="107" name="Google Shape;107;g3a842c6e4b2_0_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045700" y="51308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r="2700000" dist="137746">
                <a:srgbClr val="3B4C82">
                  <a:alpha val="22750"/>
                </a:srgbClr>
              </a:outerShdw>
            </a:effectLst>
          </p:spPr>
        </p:pic>
        <p:pic>
          <p:nvPicPr>
            <p:cNvPr id="108" name="Google Shape;108;g3a842c6e4b2_0_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58400" y="64008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r="2700000" dist="137746">
                <a:srgbClr val="3B4C82">
                  <a:alpha val="22750"/>
                </a:srgbClr>
              </a:outerShdw>
            </a:effectLst>
          </p:spPr>
        </p:pic>
        <p:pic>
          <p:nvPicPr>
            <p:cNvPr id="109" name="Google Shape;109;g3a842c6e4b2_0_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045700" y="12827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r="2700000" dist="137746">
                <a:srgbClr val="3B4C82">
                  <a:alpha val="22750"/>
                </a:srgbClr>
              </a:outerShdw>
            </a:effectLst>
          </p:spPr>
        </p:pic>
        <p:sp>
          <p:nvSpPr>
            <p:cNvPr id="110" name="Google Shape;110;g3a842c6e4b2_0_3"/>
            <p:cNvSpPr txBox="1"/>
            <p:nvPr/>
          </p:nvSpPr>
          <p:spPr>
            <a:xfrm>
              <a:off x="9994900" y="15113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EAEAE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/>
            </a:p>
          </p:txBody>
        </p:sp>
        <p:sp>
          <p:nvSpPr>
            <p:cNvPr id="111" name="Google Shape;111;g3a842c6e4b2_0_3"/>
            <p:cNvSpPr txBox="1"/>
            <p:nvPr/>
          </p:nvSpPr>
          <p:spPr>
            <a:xfrm>
              <a:off x="11226850" y="2774975"/>
              <a:ext cx="66801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Related Works</a:t>
              </a:r>
              <a:endParaRPr/>
            </a:p>
          </p:txBody>
        </p:sp>
        <p:sp>
          <p:nvSpPr>
            <p:cNvPr id="112" name="Google Shape;112;g3a842c6e4b2_0_3"/>
            <p:cNvSpPr txBox="1"/>
            <p:nvPr/>
          </p:nvSpPr>
          <p:spPr>
            <a:xfrm>
              <a:off x="9994900" y="27940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504EE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/>
            </a:p>
          </p:txBody>
        </p:sp>
        <p:sp>
          <p:nvSpPr>
            <p:cNvPr id="113" name="Google Shape;113;g3a842c6e4b2_0_3"/>
            <p:cNvSpPr txBox="1"/>
            <p:nvPr/>
          </p:nvSpPr>
          <p:spPr>
            <a:xfrm>
              <a:off x="11226850" y="4076700"/>
              <a:ext cx="66801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Approach</a:t>
              </a:r>
              <a:endParaRPr/>
            </a:p>
          </p:txBody>
        </p:sp>
        <p:sp>
          <p:nvSpPr>
            <p:cNvPr id="114" name="Google Shape;114;g3a842c6e4b2_0_3"/>
            <p:cNvSpPr txBox="1"/>
            <p:nvPr/>
          </p:nvSpPr>
          <p:spPr>
            <a:xfrm>
              <a:off x="9994900" y="40767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EAEAE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/>
            </a:p>
          </p:txBody>
        </p:sp>
        <p:sp>
          <p:nvSpPr>
            <p:cNvPr id="115" name="Google Shape;115;g3a842c6e4b2_0_3"/>
            <p:cNvSpPr txBox="1"/>
            <p:nvPr/>
          </p:nvSpPr>
          <p:spPr>
            <a:xfrm>
              <a:off x="11226800" y="5378425"/>
              <a:ext cx="43689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EDA</a:t>
              </a:r>
              <a:endParaRPr/>
            </a:p>
          </p:txBody>
        </p:sp>
        <p:sp>
          <p:nvSpPr>
            <p:cNvPr id="116" name="Google Shape;116;g3a842c6e4b2_0_3"/>
            <p:cNvSpPr txBox="1"/>
            <p:nvPr/>
          </p:nvSpPr>
          <p:spPr>
            <a:xfrm>
              <a:off x="9994900" y="53594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504EE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/>
            </a:p>
          </p:txBody>
        </p:sp>
        <p:sp>
          <p:nvSpPr>
            <p:cNvPr id="117" name="Google Shape;117;g3a842c6e4b2_0_3"/>
            <p:cNvSpPr txBox="1"/>
            <p:nvPr/>
          </p:nvSpPr>
          <p:spPr>
            <a:xfrm>
              <a:off x="11226800" y="6680150"/>
              <a:ext cx="43689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Baseline</a:t>
              </a:r>
              <a:endParaRPr/>
            </a:p>
          </p:txBody>
        </p:sp>
        <p:sp>
          <p:nvSpPr>
            <p:cNvPr id="118" name="Google Shape;118;g3a842c6e4b2_0_3"/>
            <p:cNvSpPr txBox="1"/>
            <p:nvPr/>
          </p:nvSpPr>
          <p:spPr>
            <a:xfrm>
              <a:off x="9994900" y="66421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EAEAE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/>
            </a:p>
          </p:txBody>
        </p:sp>
        <p:sp>
          <p:nvSpPr>
            <p:cNvPr id="119" name="Google Shape;119;g3a842c6e4b2_0_3"/>
            <p:cNvSpPr txBox="1"/>
            <p:nvPr/>
          </p:nvSpPr>
          <p:spPr>
            <a:xfrm>
              <a:off x="11226800" y="1473250"/>
              <a:ext cx="6159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Goal of the project</a:t>
              </a:r>
              <a:endParaRPr/>
            </a:p>
          </p:txBody>
        </p:sp>
      </p:grpSp>
      <p:pic>
        <p:nvPicPr>
          <p:cNvPr id="120" name="Google Shape;120;g3a842c6e4b2_0_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g3a925efd68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3280320"/>
            <a:ext cx="8001000" cy="6366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g3a925efd6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50" y="3280320"/>
            <a:ext cx="8001000" cy="6366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g3a925efd68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0163" y="8615103"/>
            <a:ext cx="71151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g3a925efd68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2663" y="8615103"/>
            <a:ext cx="71151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a925efd686_0_0"/>
          <p:cNvSpPr txBox="1"/>
          <p:nvPr/>
        </p:nvSpPr>
        <p:spPr>
          <a:xfrm>
            <a:off x="1200150" y="714375"/>
            <a:ext cx="17042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GOAL: CAPTURING "EXTERNAL MARKET CONDITIONS"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a925efd686_0_0"/>
          <p:cNvSpPr txBox="1"/>
          <p:nvPr/>
        </p:nvSpPr>
        <p:spPr>
          <a:xfrm>
            <a:off x="857250" y="2028825"/>
            <a:ext cx="12858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Traditional price-only models fail to reflect external factors (News, Macroeconomics). 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key challenge is: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do we capture these efficiently?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3a925efd686_0_0"/>
          <p:cNvSpPr txBox="1"/>
          <p:nvPr/>
        </p:nvSpPr>
        <p:spPr>
          <a:xfrm>
            <a:off x="1300163" y="7666583"/>
            <a:ext cx="711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Attemps to capture market conditions directly by processing massive amounts of news text.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32" name="Google Shape;132;g3a925efd686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3988" y="634923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a925efd686_0_0"/>
          <p:cNvSpPr txBox="1"/>
          <p:nvPr/>
        </p:nvSpPr>
        <p:spPr>
          <a:xfrm>
            <a:off x="9872663" y="7666583"/>
            <a:ext cx="711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Captures market conditions indirectly by analyzing how external shocks ripple through the network.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34" name="Google Shape;134;g3a925efd686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00163" y="37232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a925efd686_0_0"/>
          <p:cNvSpPr txBox="1"/>
          <p:nvPr/>
        </p:nvSpPr>
        <p:spPr>
          <a:xfrm>
            <a:off x="2085975" y="3801825"/>
            <a:ext cx="563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Recent Trend: NLP-Based</a:t>
            </a:r>
            <a:endParaRPr b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36" name="Google Shape;136;g3a925efd686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00163" y="4809083"/>
            <a:ext cx="7115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g3a925efd686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72663" y="37232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a925efd686_0_0"/>
          <p:cNvSpPr txBox="1"/>
          <p:nvPr/>
        </p:nvSpPr>
        <p:spPr>
          <a:xfrm>
            <a:off x="10658475" y="3801825"/>
            <a:ext cx="778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Our Approach: Interconnectedness</a:t>
            </a:r>
            <a:endParaRPr b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39" name="Google Shape;139;g3a925efd686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72663" y="4809083"/>
            <a:ext cx="7115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g3a925efd686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78756" y="3866108"/>
            <a:ext cx="21431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g3a925efd686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15538" y="3866108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/>
        </p:nvSpPr>
        <p:spPr>
          <a:xfrm>
            <a:off x="3932006" y="301073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Related Works</a:t>
            </a:r>
            <a:endParaRPr/>
          </a:p>
        </p:txBody>
      </p:sp>
      <p:pic>
        <p:nvPicPr>
          <p:cNvPr id="147" name="Google Shape;1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800" y="5029951"/>
            <a:ext cx="15566774" cy="3661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 txBox="1"/>
          <p:nvPr/>
        </p:nvSpPr>
        <p:spPr>
          <a:xfrm>
            <a:off x="1839142" y="5992720"/>
            <a:ext cx="140484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b="1"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Stock Returns’ Co-Movement: A Spatial Model with Convex Combination of Connectivity Matrices&gt;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3000">
                <a:solidFill>
                  <a:srgbClr val="000000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Abdallah et al., 2025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○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cross- and within-country linkages between different stocks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1839142" y="7749161"/>
            <a:ext cx="140484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&lt;Comparative Analysis of Spillover Effects in the Global Stock Market under Normal and Extreme Market Conditions&gt;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3000">
                <a:solidFill>
                  <a:srgbClr val="000000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Liu et al., 2024)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13716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○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volatility spillover index to model interconnectedness in 20 major stock markets.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0" name="Google Shape;1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650" y="1700271"/>
            <a:ext cx="15566800" cy="19852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1828800" y="2469494"/>
            <a:ext cx="129312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3716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282624"/>
                </a:solidFill>
                <a:highlight>
                  <a:srgbClr val="F6F4F4"/>
                </a:highlight>
                <a:latin typeface="Montserrat"/>
                <a:ea typeface="Montserrat"/>
                <a:cs typeface="Montserrat"/>
                <a:sym typeface="Montserrat"/>
              </a:rPr>
              <a:t>&lt;LLM-Augmented Linear Transformer–CNN for Enhanced Stock Price Prediction&gt; </a:t>
            </a:r>
            <a:r>
              <a:rPr lang="en-US" sz="3000">
                <a:solidFill>
                  <a:srgbClr val="282624"/>
                </a:solidFill>
                <a:highlight>
                  <a:srgbClr val="F6F4F4"/>
                </a:highlight>
                <a:latin typeface="Montserrat"/>
                <a:ea typeface="Montserrat"/>
                <a:cs typeface="Montserrat"/>
                <a:sym typeface="Montserrat"/>
              </a:rPr>
              <a:t>(Zhou et al., 2025)</a:t>
            </a:r>
            <a:endParaRPr sz="3000">
              <a:solidFill>
                <a:srgbClr val="282624"/>
              </a:solidFill>
              <a:highlight>
                <a:srgbClr val="F6F4F4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627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2" name="Google Shape;15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1325464"/>
            <a:ext cx="8216301" cy="746902"/>
          </a:xfrm>
          <a:prstGeom prst="rect">
            <a:avLst/>
          </a:prstGeom>
          <a:noFill/>
          <a:ln>
            <a:noFill/>
          </a:ln>
          <a:effectLst>
            <a:outerShdw blurRad="33213" dir="2700000" dist="208371">
              <a:srgbClr val="3B4C82">
                <a:alpha val="22750"/>
              </a:srgbClr>
            </a:outerShdw>
          </a:effectLst>
        </p:spPr>
      </p:pic>
      <p:sp>
        <p:nvSpPr>
          <p:cNvPr id="153" name="Google Shape;153;p3"/>
          <p:cNvSpPr txBox="1"/>
          <p:nvPr/>
        </p:nvSpPr>
        <p:spPr>
          <a:xfrm>
            <a:off x="2133400" y="1458741"/>
            <a:ext cx="577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NLP, multimodal based</a:t>
            </a:r>
            <a:endParaRPr sz="2117"/>
          </a:p>
        </p:txBody>
      </p:sp>
      <p:pic>
        <p:nvPicPr>
          <p:cNvPr id="154" name="Google Shape;15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632243"/>
            <a:ext cx="8216301" cy="746902"/>
          </a:xfrm>
          <a:prstGeom prst="rect">
            <a:avLst/>
          </a:prstGeom>
          <a:noFill/>
          <a:ln>
            <a:noFill/>
          </a:ln>
          <a:effectLst>
            <a:outerShdw blurRad="33213" dir="2700000" dist="208371">
              <a:srgbClr val="3B4C82">
                <a:alpha val="22750"/>
              </a:srgbClr>
            </a:outerShdw>
          </a:effectLst>
        </p:spPr>
      </p:pic>
      <p:sp>
        <p:nvSpPr>
          <p:cNvPr id="155" name="Google Shape;155;p3"/>
          <p:cNvSpPr txBox="1"/>
          <p:nvPr/>
        </p:nvSpPr>
        <p:spPr>
          <a:xfrm>
            <a:off x="2188750" y="4789715"/>
            <a:ext cx="5667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Interconnectedness, Spillover</a:t>
            </a:r>
            <a:endParaRPr sz="2117"/>
          </a:p>
        </p:txBody>
      </p:sp>
      <p:sp>
        <p:nvSpPr>
          <p:cNvPr id="156" name="Google Shape;156;p3"/>
          <p:cNvSpPr txBox="1"/>
          <p:nvPr/>
        </p:nvSpPr>
        <p:spPr>
          <a:xfrm>
            <a:off x="1374025" y="8197855"/>
            <a:ext cx="92892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1371600" y="3844396"/>
            <a:ext cx="1227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000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 → (-): costly, requires extra resources like financial text.</a:t>
            </a:r>
            <a:endParaRPr b="1" sz="3000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371600" y="8769750"/>
            <a:ext cx="1556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000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 → (X) use identified comovement patterns, spillover effects in prediction.</a:t>
            </a:r>
            <a:endParaRPr b="1" sz="3000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1373101" y="9198825"/>
            <a:ext cx="1591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000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 → (X) comparison between nlp-based vs interconnectedness-based </a:t>
            </a:r>
            <a:endParaRPr b="1" sz="3000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8e9774aed_2_1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/>
          </a:p>
        </p:txBody>
      </p:sp>
      <p:graphicFrame>
        <p:nvGraphicFramePr>
          <p:cNvPr id="165" name="Google Shape;165;g3a8e9774aed_2_1"/>
          <p:cNvGraphicFramePr/>
          <p:nvPr/>
        </p:nvGraphicFramePr>
        <p:xfrm>
          <a:off x="1191400" y="2528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{9285F7F7-3823-4906-A7B7-1DBE18F132E8}</a:tableStyleId>
              </a:tblPr>
              <a:tblGrid>
                <a:gridCol w="7952600"/>
                <a:gridCol w="7952600"/>
              </a:tblGrid>
              <a:tr h="94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solidFill>
                            <a:srgbClr val="504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Sentiment-based</a:t>
                      </a:r>
                      <a:endParaRPr b="1" sz="3200">
                        <a:solidFill>
                          <a:srgbClr val="504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solidFill>
                            <a:srgbClr val="504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Correlation, interconnectedness-based</a:t>
                      </a:r>
                      <a:endParaRPr b="1" sz="3200">
                        <a:solidFill>
                          <a:srgbClr val="504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0">
                <a:tc>
                  <a:txBody>
                    <a:bodyPr/>
                    <a:lstStyle/>
                    <a:p>
                      <a:pPr indent="-431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3200"/>
                        <a:buFont typeface="Montserrat"/>
                        <a:buChar char="●"/>
                      </a:pPr>
                      <a:r>
                        <a:rPr lang="en-US" sz="3200" u="sng">
                          <a:solidFill>
                            <a:srgbClr val="3C78D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GDELT Tone score</a:t>
                      </a:r>
                      <a:r>
                        <a:rPr lang="en-US" sz="3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based on global news articles</a:t>
                      </a:r>
                      <a:endParaRPr sz="3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431800" lvl="0" marL="45720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3200"/>
                        <a:buFont typeface="Montserrat"/>
                        <a:buChar char="●"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Pearson correlation, CCF(Cross-Correlation Function),  DTW similarity score, Granger causality test</a:t>
                      </a:r>
                      <a:endParaRPr sz="3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43180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Montserrat"/>
                        <a:buChar char="●"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Find correlated features (c.f: log-return, volatility)</a:t>
                      </a:r>
                      <a:endParaRPr sz="3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45720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→ </a:t>
                      </a:r>
                      <a:r>
                        <a:rPr b="1" lang="en-US" sz="3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VARMA/LSTM</a:t>
                      </a: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3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6" name="Google Shape;166;g3a8e9774aed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3703" y="6881125"/>
            <a:ext cx="10007700" cy="35304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g3a8e9774aed_2_1"/>
          <p:cNvCxnSpPr>
            <a:endCxn id="166" idx="0"/>
          </p:cNvCxnSpPr>
          <p:nvPr/>
        </p:nvCxnSpPr>
        <p:spPr>
          <a:xfrm flipH="1">
            <a:off x="4140147" y="4191925"/>
            <a:ext cx="290700" cy="26892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a8e9774aed_0_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600" y="2921000"/>
            <a:ext cx="7912100" cy="58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a8e9774aed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0" y="2921000"/>
            <a:ext cx="75184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a8e9774aed_0_1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0300" y="33274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r="2700000" dist="137746">
              <a:srgbClr val="3B4C82">
                <a:alpha val="22750"/>
              </a:srgbClr>
            </a:outerShdw>
          </a:effectLst>
        </p:spPr>
      </p:pic>
      <p:pic>
        <p:nvPicPr>
          <p:cNvPr id="175" name="Google Shape;175;g3a8e9774aed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0" y="4927600"/>
            <a:ext cx="75184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a8e9774aed_0_1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20300" y="53340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r="2700000" dist="137746">
              <a:srgbClr val="3B4C82">
                <a:alpha val="22750"/>
              </a:srgbClr>
            </a:outerShdw>
          </a:effectLst>
        </p:spPr>
      </p:pic>
      <p:pic>
        <p:nvPicPr>
          <p:cNvPr id="177" name="Google Shape;177;g3a8e9774aed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0" y="6921500"/>
            <a:ext cx="75184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a8e9774aed_0_1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0300" y="73279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r="2700000" dist="137746">
              <a:srgbClr val="3B4C82">
                <a:alpha val="22750"/>
              </a:srgbClr>
            </a:outerShdw>
          </a:effectLst>
        </p:spPr>
      </p:pic>
      <p:sp>
        <p:nvSpPr>
          <p:cNvPr id="179" name="Google Shape;179;g3a8e9774aed_0_138"/>
          <p:cNvSpPr txBox="1"/>
          <p:nvPr/>
        </p:nvSpPr>
        <p:spPr>
          <a:xfrm>
            <a:off x="5257800" y="1003300"/>
            <a:ext cx="77724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/>
          </a:p>
        </p:txBody>
      </p:sp>
      <p:sp>
        <p:nvSpPr>
          <p:cNvPr id="180" name="Google Shape;180;g3a8e9774aed_0_138"/>
          <p:cNvSpPr txBox="1"/>
          <p:nvPr/>
        </p:nvSpPr>
        <p:spPr>
          <a:xfrm>
            <a:off x="11303000" y="3441700"/>
            <a:ext cx="52323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Rapid increase, Rapid drop</a:t>
            </a:r>
            <a:endParaRPr/>
          </a:p>
        </p:txBody>
      </p:sp>
      <p:sp>
        <p:nvSpPr>
          <p:cNvPr id="181" name="Google Shape;181;g3a8e9774aed_0_138"/>
          <p:cNvSpPr txBox="1"/>
          <p:nvPr/>
        </p:nvSpPr>
        <p:spPr>
          <a:xfrm>
            <a:off x="9982200" y="35687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82" name="Google Shape;182;g3a8e9774aed_0_138"/>
          <p:cNvSpPr txBox="1"/>
          <p:nvPr/>
        </p:nvSpPr>
        <p:spPr>
          <a:xfrm>
            <a:off x="11303000" y="5448300"/>
            <a:ext cx="52323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Missing value check</a:t>
            </a:r>
            <a:endParaRPr/>
          </a:p>
        </p:txBody>
      </p:sp>
      <p:sp>
        <p:nvSpPr>
          <p:cNvPr id="183" name="Google Shape;183;g3a8e9774aed_0_138"/>
          <p:cNvSpPr txBox="1"/>
          <p:nvPr/>
        </p:nvSpPr>
        <p:spPr>
          <a:xfrm>
            <a:off x="9982200" y="55753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04EEE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84" name="Google Shape;184;g3a8e9774aed_0_138"/>
          <p:cNvSpPr txBox="1"/>
          <p:nvPr/>
        </p:nvSpPr>
        <p:spPr>
          <a:xfrm>
            <a:off x="11303000" y="7442200"/>
            <a:ext cx="52323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Outlier Check</a:t>
            </a:r>
            <a:endParaRPr/>
          </a:p>
        </p:txBody>
      </p:sp>
      <p:sp>
        <p:nvSpPr>
          <p:cNvPr id="185" name="Google Shape;185;g3a8e9774aed_0_138"/>
          <p:cNvSpPr txBox="1"/>
          <p:nvPr/>
        </p:nvSpPr>
        <p:spPr>
          <a:xfrm>
            <a:off x="9982200" y="75692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pic>
        <p:nvPicPr>
          <p:cNvPr id="186" name="Google Shape;186;g3a8e9774aed_0_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0950" y="3035013"/>
            <a:ext cx="6790125" cy="54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a8e9774aed_0_1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a8e9774aed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a8e9774aed_0_182"/>
          <p:cNvSpPr txBox="1"/>
          <p:nvPr/>
        </p:nvSpPr>
        <p:spPr>
          <a:xfrm>
            <a:off x="1092200" y="815594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pic>
        <p:nvPicPr>
          <p:cNvPr id="194" name="Google Shape;194;g3a8e9774aed_0_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a8e9774aed_0_1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a8e9774aed_0_182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a8e9774aed_0_182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a8e9774aed_0_182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g3a8e9774aed_0_1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9300" y="2856106"/>
            <a:ext cx="9718949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a8e9774aed_0_182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Log transformation</a:t>
            </a:r>
            <a:endParaRPr/>
          </a:p>
        </p:txBody>
      </p:sp>
      <p:sp>
        <p:nvSpPr>
          <p:cNvPr id="201" name="Google Shape;201;g3a8e9774aed_0_182"/>
          <p:cNvSpPr txBox="1"/>
          <p:nvPr/>
        </p:nvSpPr>
        <p:spPr>
          <a:xfrm>
            <a:off x="5655950" y="8244605"/>
            <a:ext cx="690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log transformation to adjust scale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a8e9774ae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a8e9774aed_0_0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Missing Value</a:t>
            </a:r>
            <a:endParaRPr/>
          </a:p>
        </p:txBody>
      </p:sp>
      <p:sp>
        <p:nvSpPr>
          <p:cNvPr id="208" name="Google Shape;208;g3a8e9774aed_0_0"/>
          <p:cNvSpPr txBox="1"/>
          <p:nvPr/>
        </p:nvSpPr>
        <p:spPr>
          <a:xfrm>
            <a:off x="1092200" y="840393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09" name="Google Shape;209;g3a8e9774aed_0_0"/>
          <p:cNvSpPr txBox="1"/>
          <p:nvPr/>
        </p:nvSpPr>
        <p:spPr>
          <a:xfrm>
            <a:off x="1092200" y="8214830"/>
            <a:ext cx="157617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Missing Value occurs during the process of aligning domestic and interna</a:t>
            </a: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tional companies</a:t>
            </a:r>
            <a:endParaRPr sz="2000"/>
          </a:p>
        </p:txBody>
      </p:sp>
      <p:pic>
        <p:nvPicPr>
          <p:cNvPr id="210" name="Google Shape;210;g3a8e9774ae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a8e9774ae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a8e9774aed_0_0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a8e9774aed_0_0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a8e9774aed_0_0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a8e9774aed_0_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a8e9774aed_0_124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Missing Value</a:t>
            </a:r>
            <a:endParaRPr/>
          </a:p>
        </p:txBody>
      </p:sp>
      <p:sp>
        <p:nvSpPr>
          <p:cNvPr id="221" name="Google Shape;221;g3a8e9774aed_0_124"/>
          <p:cNvSpPr txBox="1"/>
          <p:nvPr/>
        </p:nvSpPr>
        <p:spPr>
          <a:xfrm>
            <a:off x="1092200" y="80645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22" name="Google Shape;222;g3a8e9774aed_0_124"/>
          <p:cNvSpPr txBox="1"/>
          <p:nvPr/>
        </p:nvSpPr>
        <p:spPr>
          <a:xfrm>
            <a:off x="3698900" y="8214830"/>
            <a:ext cx="108141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101 interpolated points follows original trends with interpolation</a:t>
            </a:r>
            <a:endParaRPr sz="2000"/>
          </a:p>
        </p:txBody>
      </p:sp>
      <p:pic>
        <p:nvPicPr>
          <p:cNvPr id="223" name="Google Shape;223;g3a8e9774aed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a8e9774aed_0_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a8e9774aed_0_124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a8e9774aed_0_124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a8e9774aed_0_124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g3a8e9774aed_0_1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9300" y="2856105"/>
            <a:ext cx="9765076" cy="46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a8e9774aed_0_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a8e9774aed_0_197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Outlier check</a:t>
            </a:r>
            <a:endParaRPr/>
          </a:p>
        </p:txBody>
      </p:sp>
      <p:sp>
        <p:nvSpPr>
          <p:cNvPr id="235" name="Google Shape;235;g3a8e9774aed_0_197"/>
          <p:cNvSpPr txBox="1"/>
          <p:nvPr/>
        </p:nvSpPr>
        <p:spPr>
          <a:xfrm>
            <a:off x="1092200" y="840393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36" name="Google Shape;236;g3a8e9774aed_0_197"/>
          <p:cNvSpPr txBox="1"/>
          <p:nvPr/>
        </p:nvSpPr>
        <p:spPr>
          <a:xfrm>
            <a:off x="2301050" y="8214830"/>
            <a:ext cx="136098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Prices after the sharp increase are considered as outliers when detecting with 3𝛔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However, these values reflects characteristics of TESLA data → preserve them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37" name="Google Shape;237;g3a8e9774aed_0_1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8e9774aed_0_1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a8e9774aed_0_197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a8e9774aed_0_197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a8e9774aed_0_197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3a8e9774aed_0_1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9300" y="2873024"/>
            <a:ext cx="9765051" cy="451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3a8e9774aed_0_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a8e9774aed_0_212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Baseline Performance</a:t>
            </a:r>
            <a:endParaRPr/>
          </a:p>
        </p:txBody>
      </p:sp>
      <p:sp>
        <p:nvSpPr>
          <p:cNvPr id="249" name="Google Shape;249;g3a8e9774aed_0_212"/>
          <p:cNvSpPr txBox="1"/>
          <p:nvPr/>
        </p:nvSpPr>
        <p:spPr>
          <a:xfrm>
            <a:off x="1092200" y="840393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50" name="Google Shape;250;g3a8e9774aed_0_212"/>
          <p:cNvSpPr txBox="1"/>
          <p:nvPr/>
        </p:nvSpPr>
        <p:spPr>
          <a:xfrm>
            <a:off x="2301050" y="8214830"/>
            <a:ext cx="136098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LSTM capture variations relatively well and achieves moderate performance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1" name="Google Shape;251;g3a8e9774aed_0_2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a8e9774aed_0_2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8050" y="2828268"/>
            <a:ext cx="7595800" cy="46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a8e9774aed_0_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a8e9774aed_0_226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Baseline Performance</a:t>
            </a:r>
            <a:endParaRPr/>
          </a:p>
        </p:txBody>
      </p:sp>
      <p:sp>
        <p:nvSpPr>
          <p:cNvPr id="259" name="Google Shape;259;g3a8e9774aed_0_226"/>
          <p:cNvSpPr txBox="1"/>
          <p:nvPr/>
        </p:nvSpPr>
        <p:spPr>
          <a:xfrm>
            <a:off x="1092200" y="80645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60" name="Google Shape;260;g3a8e9774aed_0_226"/>
          <p:cNvSpPr txBox="1"/>
          <p:nvPr/>
        </p:nvSpPr>
        <p:spPr>
          <a:xfrm>
            <a:off x="2301050" y="8214830"/>
            <a:ext cx="136098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However, there’s still gap between prediction and real prices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61" name="Google Shape;261;g3a8e9774aed_0_2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a8e9774aed_0_2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1463" y="2763680"/>
            <a:ext cx="10208975" cy="46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a8e9774aed_0_226"/>
          <p:cNvSpPr/>
          <p:nvPr/>
        </p:nvSpPr>
        <p:spPr>
          <a:xfrm>
            <a:off x="9257100" y="3420180"/>
            <a:ext cx="1398900" cy="2961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a8e9774aed_0_226"/>
          <p:cNvSpPr/>
          <p:nvPr/>
        </p:nvSpPr>
        <p:spPr>
          <a:xfrm>
            <a:off x="12843875" y="3345755"/>
            <a:ext cx="1056600" cy="1756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a8e9774aed_0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a8e9774aed_0_238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Baseline Performance</a:t>
            </a:r>
            <a:endParaRPr/>
          </a:p>
        </p:txBody>
      </p:sp>
      <p:sp>
        <p:nvSpPr>
          <p:cNvPr id="271" name="Google Shape;271;g3a8e9774aed_0_238"/>
          <p:cNvSpPr txBox="1"/>
          <p:nvPr/>
        </p:nvSpPr>
        <p:spPr>
          <a:xfrm>
            <a:off x="1092200" y="80645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72" name="Google Shape;272;g3a8e9774aed_0_238"/>
          <p:cNvSpPr txBox="1"/>
          <p:nvPr/>
        </p:nvSpPr>
        <p:spPr>
          <a:xfrm>
            <a:off x="2301050" y="7875400"/>
            <a:ext cx="13609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Fails to handle sharp increase caused by </a:t>
            </a:r>
            <a:r>
              <a:rPr lang="en-US" sz="2600">
                <a:solidFill>
                  <a:srgbClr val="504EE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external</a:t>
            </a: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events.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Cybercab release: Cannot reflect with hyundai data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 market expansion: Can reflect with hyundai data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73" name="Google Shape;273;g3a8e9774aed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a8e9774aed_0_2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975" y="3262618"/>
            <a:ext cx="5548800" cy="37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a8e9774aed_0_2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15550" y="3262618"/>
            <a:ext cx="5189399" cy="376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a8e9774aed_0_238"/>
          <p:cNvSpPr txBox="1"/>
          <p:nvPr/>
        </p:nvSpPr>
        <p:spPr>
          <a:xfrm>
            <a:off x="5296775" y="7153400"/>
            <a:ext cx="1735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latin typeface="Montserrat SemiBold"/>
                <a:ea typeface="Montserrat SemiBold"/>
                <a:cs typeface="Montserrat SemiBold"/>
                <a:sym typeface="Montserrat SemiBold"/>
              </a:rPr>
              <a:t>2024 October</a:t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7" name="Google Shape;277;g3a8e9774aed_0_238"/>
          <p:cNvSpPr txBox="1"/>
          <p:nvPr/>
        </p:nvSpPr>
        <p:spPr>
          <a:xfrm>
            <a:off x="11234500" y="7226700"/>
            <a:ext cx="195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latin typeface="Montserrat SemiBold"/>
                <a:ea typeface="Montserrat SemiBold"/>
                <a:cs typeface="Montserrat SemiBold"/>
                <a:sym typeface="Montserrat SemiBold"/>
              </a:rPr>
              <a:t>2025 November</a:t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a8f4737761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600" y="2921000"/>
            <a:ext cx="15673799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a8f4737761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2075" y="33719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r="2700000" dist="137746">
              <a:srgbClr val="3B4C82">
                <a:alpha val="22750"/>
              </a:srgbClr>
            </a:outerShdw>
          </a:effectLst>
        </p:spPr>
      </p:pic>
      <p:pic>
        <p:nvPicPr>
          <p:cNvPr id="284" name="Google Shape;284;g3a8f4737761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600" y="4927600"/>
            <a:ext cx="15673799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a8f4737761_0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2075" y="53087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r="2700000" dist="137746">
              <a:srgbClr val="3B4C82">
                <a:alpha val="22750"/>
              </a:srgbClr>
            </a:outerShdw>
          </a:effectLst>
        </p:spPr>
      </p:pic>
      <p:pic>
        <p:nvPicPr>
          <p:cNvPr id="286" name="Google Shape;286;g3a8f4737761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600" y="6921500"/>
            <a:ext cx="15673799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a8f4737761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2075" y="73026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r="2700000" dist="137746">
              <a:srgbClr val="3B4C82">
                <a:alpha val="22750"/>
              </a:srgbClr>
            </a:outerShdw>
          </a:effectLst>
        </p:spPr>
      </p:pic>
      <p:sp>
        <p:nvSpPr>
          <p:cNvPr id="288" name="Google Shape;288;g3a8f4737761_0_19"/>
          <p:cNvSpPr txBox="1"/>
          <p:nvPr/>
        </p:nvSpPr>
        <p:spPr>
          <a:xfrm>
            <a:off x="5257800" y="1003300"/>
            <a:ext cx="77724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/>
          </a:p>
        </p:txBody>
      </p:sp>
      <p:sp>
        <p:nvSpPr>
          <p:cNvPr id="289" name="Google Shape;289;g3a8f4737761_0_19"/>
          <p:cNvSpPr txBox="1"/>
          <p:nvPr/>
        </p:nvSpPr>
        <p:spPr>
          <a:xfrm>
            <a:off x="3315900" y="3460700"/>
            <a:ext cx="117747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Naive approach fail to capture variation caused by external events </a:t>
            </a:r>
            <a:endParaRPr/>
          </a:p>
        </p:txBody>
      </p:sp>
      <p:sp>
        <p:nvSpPr>
          <p:cNvPr id="290" name="Google Shape;290;g3a8f4737761_0_19"/>
          <p:cNvSpPr txBox="1"/>
          <p:nvPr/>
        </p:nvSpPr>
        <p:spPr>
          <a:xfrm>
            <a:off x="1913975" y="36132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291" name="Google Shape;291;g3a8f4737761_0_19"/>
          <p:cNvSpPr txBox="1"/>
          <p:nvPr/>
        </p:nvSpPr>
        <p:spPr>
          <a:xfrm>
            <a:off x="3315900" y="5467300"/>
            <a:ext cx="104820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NLP-based approach suggested by previous </a:t>
            </a: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approach</a:t>
            </a: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are too costly</a:t>
            </a:r>
            <a:endParaRPr/>
          </a:p>
        </p:txBody>
      </p:sp>
      <p:sp>
        <p:nvSpPr>
          <p:cNvPr id="292" name="Google Shape;292;g3a8f4737761_0_19"/>
          <p:cNvSpPr txBox="1"/>
          <p:nvPr/>
        </p:nvSpPr>
        <p:spPr>
          <a:xfrm>
            <a:off x="1913975" y="55500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04EEE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293" name="Google Shape;293;g3a8f4737761_0_19"/>
          <p:cNvSpPr txBox="1"/>
          <p:nvPr/>
        </p:nvSpPr>
        <p:spPr>
          <a:xfrm>
            <a:off x="3315900" y="7461200"/>
            <a:ext cx="122643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 efficiency of interconnectedness-based approach </a:t>
            </a:r>
            <a:endParaRPr sz="23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comparing it to sentiment-based approach</a:t>
            </a:r>
            <a:endParaRPr/>
          </a:p>
        </p:txBody>
      </p:sp>
      <p:sp>
        <p:nvSpPr>
          <p:cNvPr id="294" name="Google Shape;294;g3a8f4737761_0_19"/>
          <p:cNvSpPr txBox="1"/>
          <p:nvPr/>
        </p:nvSpPr>
        <p:spPr>
          <a:xfrm>
            <a:off x="1913975" y="75439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pic>
        <p:nvPicPr>
          <p:cNvPr id="295" name="Google Shape;295;g3a8f4737761_0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