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8288000" cy="10287000"/>
  <p:notesSz cx="6858000" cy="9144000"/>
  <p:embeddedFontLst>
    <p:embeddedFont>
      <p:font typeface="Montserrat" panose="00000500000000000000" pitchFamily="2" charset="0"/>
      <p:bold r:id="rId17"/>
      <p:boldItalic r:id="rId18"/>
    </p:embeddedFont>
    <p:embeddedFont>
      <p:font typeface="Montserrat ExtraBold" panose="020F0502020204030204" pitchFamily="2" charset="0"/>
      <p:bold r:id="rId19"/>
      <p:boldItalic r:id="rId20"/>
    </p:embeddedFont>
    <p:embeddedFont>
      <p:font typeface="Montserrat Light" panose="020F0502020204030204" pitchFamily="2" charset="0"/>
      <p:regular r:id="rId21"/>
      <p:bold r:id="rId22"/>
      <p:italic r:id="rId23"/>
      <p:boldItalic r:id="rId24"/>
    </p:embeddedFont>
    <p:embeddedFont>
      <p:font typeface="Montserrat Medium" panose="020F0502020204030204" pitchFamily="2" charset="0"/>
      <p:regular r:id="rId25"/>
      <p:bold r:id="rId26"/>
      <p:italic r:id="rId27"/>
      <p:boldItalic r:id="rId28"/>
    </p:embeddedFont>
    <p:embeddedFont>
      <p:font typeface="Montserrat SemiBold" panose="020F0502020204030204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hfHcy6HP+A1Qona4SaXmqkZCg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85F7F7-3823-4906-A7B7-1DBE18F132E8}">
  <a:tblStyle styleId="{9285F7F7-3823-4906-A7B7-1DBE18F132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6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presProps" Target="presProps.xml"/><Relationship Id="rId21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842c6e4b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a842c6e4b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925efd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a925efd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8e9774aed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8e9774aed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8e9774aed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a8e9774aed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8e9774aed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a8e9774aed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8e9774ae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a8e9774a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8e9774aed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a8e9774aed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8e9774aed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a8e9774aed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8e9774aed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a8e9774aed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8e9774ae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a8e9774ae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8e9774aed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a8e9774aed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8f473776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a8f473776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hyperlink" Target="https://www.zotero.org/google-docs/?xA7H2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hyperlink" Target="https://www.zotero.org/google-docs/?CZSDmb" TargetMode="External"/><Relationship Id="rId4" Type="http://schemas.openxmlformats.org/officeDocument/2006/relationships/hyperlink" Target="https://www.zotero.org/google-docs/?broken=amxAT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 rot="240000">
            <a:off x="5715000" y="2324100"/>
            <a:ext cx="1193800" cy="1193800"/>
          </a:xfrm>
          <a:prstGeom prst="rect">
            <a:avLst/>
          </a:prstGeom>
          <a:noFill/>
          <a:ln>
            <a:noFill/>
          </a:ln>
          <a:effectLst>
            <a:outerShdw blurRad="28234" dist="119058" dir="2700000">
              <a:srgbClr val="161616">
                <a:alpha val="34901"/>
              </a:srgbClr>
            </a:outerShdw>
          </a:effectLst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2500" y="2578100"/>
            <a:ext cx="4965700" cy="4965700"/>
          </a:xfrm>
          <a:prstGeom prst="rect">
            <a:avLst/>
          </a:prstGeom>
          <a:noFill/>
          <a:ln>
            <a:noFill/>
          </a:ln>
          <a:effectLst>
            <a:outerShdw blurRad="674322" dist="610705" dir="2700000">
              <a:srgbClr val="3B4C82">
                <a:alpha val="35686"/>
              </a:srgbClr>
            </a:outerShdw>
          </a:effectLst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30600" y="4038600"/>
            <a:ext cx="4127500" cy="35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640000">
            <a:off x="1841500" y="5194300"/>
            <a:ext cx="1079500" cy="1079500"/>
          </a:xfrm>
          <a:prstGeom prst="rect">
            <a:avLst/>
          </a:prstGeom>
          <a:noFill/>
          <a:ln>
            <a:noFill/>
          </a:ln>
          <a:effectLst>
            <a:outerShdw blurRad="23355" dist="108284" dir="2700000">
              <a:srgbClr val="161616">
                <a:alpha val="34901"/>
              </a:srgbClr>
            </a:outerShdw>
          </a:effectLst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6400" y="9867900"/>
            <a:ext cx="118618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title="stock-pric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87000" y="3954400"/>
            <a:ext cx="2614700" cy="26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40000">
            <a:off x="5842000" y="5461000"/>
            <a:ext cx="1384300" cy="1384300"/>
          </a:xfrm>
          <a:prstGeom prst="rect">
            <a:avLst/>
          </a:prstGeom>
          <a:noFill/>
          <a:ln>
            <a:noFill/>
          </a:ln>
          <a:effectLst>
            <a:outerShdw blurRad="37842" dist="212054" dir="2700000">
              <a:srgbClr val="161616">
                <a:alpha val="27843"/>
              </a:srgbClr>
            </a:outerShdw>
          </a:effectLst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73500" y="3479800"/>
            <a:ext cx="1485900" cy="1485900"/>
          </a:xfrm>
          <a:prstGeom prst="rect">
            <a:avLst/>
          </a:prstGeom>
          <a:noFill/>
          <a:ln>
            <a:noFill/>
          </a:ln>
          <a:effectLst>
            <a:outerShdw blurRad="43677" dist="148082" dir="2700000">
              <a:srgbClr val="161616">
                <a:alpha val="34901"/>
              </a:srgbClr>
            </a:outerShdw>
          </a:effectLst>
        </p:spPr>
      </p:pic>
      <p:sp>
        <p:nvSpPr>
          <p:cNvPr id="92" name="Google Shape;92;p1"/>
          <p:cNvSpPr txBox="1"/>
          <p:nvPr/>
        </p:nvSpPr>
        <p:spPr>
          <a:xfrm>
            <a:off x="7810500" y="6569100"/>
            <a:ext cx="9101700" cy="9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Minseo Kim, Jihong Min, Dayoon Lee</a:t>
            </a:r>
            <a:endParaRPr sz="2800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810500" y="3766550"/>
            <a:ext cx="9945900" cy="29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Stock Price Prediction</a:t>
            </a:r>
            <a:endParaRPr sz="50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Montserrat SemiBold"/>
                <a:ea typeface="Montserrat SemiBold"/>
                <a:cs typeface="Montserrat SemiBold"/>
                <a:sym typeface="Montserrat SemiBold"/>
              </a:rPr>
              <a:t>with</a:t>
            </a:r>
            <a:r>
              <a:rPr lang="en-US" sz="500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5000">
                <a:latin typeface="Montserrat ExtraBold"/>
                <a:ea typeface="Montserrat ExtraBold"/>
                <a:cs typeface="Montserrat ExtraBold"/>
                <a:sym typeface="Montserrat ExtraBold"/>
              </a:rPr>
              <a:t>Cross-Firm Integration</a:t>
            </a:r>
            <a:endParaRPr sz="50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a842c6e4b2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8200" y="2870200"/>
            <a:ext cx="1638300" cy="1638300"/>
          </a:xfrm>
          <a:prstGeom prst="rect">
            <a:avLst/>
          </a:prstGeom>
          <a:noFill/>
          <a:ln>
            <a:noFill/>
          </a:ln>
          <a:effectLst>
            <a:outerShdw blurRad="53776" dist="227508" dir="2700000">
              <a:srgbClr val="161616">
                <a:alpha val="11760"/>
              </a:srgbClr>
            </a:outerShdw>
          </a:effectLst>
        </p:spPr>
      </p:pic>
      <p:sp>
        <p:nvSpPr>
          <p:cNvPr id="103" name="Google Shape;103;g3a842c6e4b2_0_3"/>
          <p:cNvSpPr txBox="1"/>
          <p:nvPr/>
        </p:nvSpPr>
        <p:spPr>
          <a:xfrm>
            <a:off x="3429000" y="4648200"/>
            <a:ext cx="3657600" cy="12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 b="1" i="0" u="none" strike="noStrike" cap="non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INDEX</a:t>
            </a:r>
            <a:endParaRPr/>
          </a:p>
        </p:txBody>
      </p:sp>
      <p:grpSp>
        <p:nvGrpSpPr>
          <p:cNvPr id="104" name="Google Shape;104;g3a842c6e4b2_0_3"/>
          <p:cNvGrpSpPr/>
          <p:nvPr/>
        </p:nvGrpSpPr>
        <p:grpSpPr>
          <a:xfrm>
            <a:off x="10023275" y="1639875"/>
            <a:ext cx="7912050" cy="6007100"/>
            <a:chOff x="9994900" y="1282700"/>
            <a:chExt cx="7912050" cy="6007100"/>
          </a:xfrm>
        </p:grpSpPr>
        <p:pic>
          <p:nvPicPr>
            <p:cNvPr id="105" name="Google Shape;105;g3a842c6e4b2_0_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045700" y="2565400"/>
              <a:ext cx="901700" cy="889000"/>
            </a:xfrm>
            <a:prstGeom prst="rect">
              <a:avLst/>
            </a:prstGeom>
            <a:noFill/>
            <a:ln>
              <a:noFill/>
            </a:ln>
            <a:effectLst>
              <a:outerShdw blurRad="21956" dist="137746" dir="2700000">
                <a:srgbClr val="3B4C82">
                  <a:alpha val="22750"/>
                </a:srgbClr>
              </a:outerShdw>
            </a:effectLst>
          </p:spPr>
        </p:pic>
        <p:pic>
          <p:nvPicPr>
            <p:cNvPr id="106" name="Google Shape;106;g3a842c6e4b2_0_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045700" y="3848100"/>
              <a:ext cx="901700" cy="889000"/>
            </a:xfrm>
            <a:prstGeom prst="rect">
              <a:avLst/>
            </a:prstGeom>
            <a:noFill/>
            <a:ln>
              <a:noFill/>
            </a:ln>
            <a:effectLst>
              <a:outerShdw blurRad="21956" dist="137746" dir="2700000">
                <a:srgbClr val="3B4C82">
                  <a:alpha val="22750"/>
                </a:srgbClr>
              </a:outerShdw>
            </a:effectLst>
          </p:spPr>
        </p:pic>
        <p:pic>
          <p:nvPicPr>
            <p:cNvPr id="107" name="Google Shape;107;g3a842c6e4b2_0_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045700" y="5130800"/>
              <a:ext cx="901700" cy="889000"/>
            </a:xfrm>
            <a:prstGeom prst="rect">
              <a:avLst/>
            </a:prstGeom>
            <a:noFill/>
            <a:ln>
              <a:noFill/>
            </a:ln>
            <a:effectLst>
              <a:outerShdw blurRad="21956" dist="137746" dir="2700000">
                <a:srgbClr val="3B4C82">
                  <a:alpha val="22750"/>
                </a:srgbClr>
              </a:outerShdw>
            </a:effectLst>
          </p:spPr>
        </p:pic>
        <p:pic>
          <p:nvPicPr>
            <p:cNvPr id="108" name="Google Shape;108;g3a842c6e4b2_0_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058400" y="6400800"/>
              <a:ext cx="901700" cy="889000"/>
            </a:xfrm>
            <a:prstGeom prst="rect">
              <a:avLst/>
            </a:prstGeom>
            <a:noFill/>
            <a:ln>
              <a:noFill/>
            </a:ln>
            <a:effectLst>
              <a:outerShdw blurRad="21956" dist="137746" dir="2700000">
                <a:srgbClr val="3B4C82">
                  <a:alpha val="22750"/>
                </a:srgbClr>
              </a:outerShdw>
            </a:effectLst>
          </p:spPr>
        </p:pic>
        <p:pic>
          <p:nvPicPr>
            <p:cNvPr id="109" name="Google Shape;109;g3a842c6e4b2_0_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045700" y="1282700"/>
              <a:ext cx="901700" cy="889000"/>
            </a:xfrm>
            <a:prstGeom prst="rect">
              <a:avLst/>
            </a:prstGeom>
            <a:noFill/>
            <a:ln>
              <a:noFill/>
            </a:ln>
            <a:effectLst>
              <a:outerShdw blurRad="21956" dist="137746" dir="2700000">
                <a:srgbClr val="3B4C82">
                  <a:alpha val="22750"/>
                </a:srgbClr>
              </a:outerShdw>
            </a:effectLst>
          </p:spPr>
        </p:pic>
        <p:sp>
          <p:nvSpPr>
            <p:cNvPr id="110" name="Google Shape;110;g3a842c6e4b2_0_3"/>
            <p:cNvSpPr txBox="1"/>
            <p:nvPr/>
          </p:nvSpPr>
          <p:spPr>
            <a:xfrm>
              <a:off x="9994900" y="1511300"/>
              <a:ext cx="97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EAEAE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/>
            </a:p>
          </p:txBody>
        </p:sp>
        <p:sp>
          <p:nvSpPr>
            <p:cNvPr id="111" name="Google Shape;111;g3a842c6e4b2_0_3"/>
            <p:cNvSpPr txBox="1"/>
            <p:nvPr/>
          </p:nvSpPr>
          <p:spPr>
            <a:xfrm>
              <a:off x="11226850" y="2774975"/>
              <a:ext cx="66801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8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1">
                  <a:solidFill>
                    <a:srgbClr val="16161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Related Works</a:t>
              </a:r>
              <a:endParaRPr/>
            </a:p>
          </p:txBody>
        </p:sp>
        <p:sp>
          <p:nvSpPr>
            <p:cNvPr id="112" name="Google Shape;112;g3a842c6e4b2_0_3"/>
            <p:cNvSpPr txBox="1"/>
            <p:nvPr/>
          </p:nvSpPr>
          <p:spPr>
            <a:xfrm>
              <a:off x="9994900" y="2794000"/>
              <a:ext cx="97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504EE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/>
            </a:p>
          </p:txBody>
        </p:sp>
        <p:sp>
          <p:nvSpPr>
            <p:cNvPr id="113" name="Google Shape;113;g3a842c6e4b2_0_3"/>
            <p:cNvSpPr txBox="1"/>
            <p:nvPr/>
          </p:nvSpPr>
          <p:spPr>
            <a:xfrm>
              <a:off x="11226850" y="4076700"/>
              <a:ext cx="66801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8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1">
                  <a:solidFill>
                    <a:srgbClr val="16161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Approach</a:t>
              </a:r>
              <a:endParaRPr/>
            </a:p>
          </p:txBody>
        </p:sp>
        <p:sp>
          <p:nvSpPr>
            <p:cNvPr id="114" name="Google Shape;114;g3a842c6e4b2_0_3"/>
            <p:cNvSpPr txBox="1"/>
            <p:nvPr/>
          </p:nvSpPr>
          <p:spPr>
            <a:xfrm>
              <a:off x="9994900" y="4076700"/>
              <a:ext cx="97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EAEAE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/>
            </a:p>
          </p:txBody>
        </p:sp>
        <p:sp>
          <p:nvSpPr>
            <p:cNvPr id="115" name="Google Shape;115;g3a842c6e4b2_0_3"/>
            <p:cNvSpPr txBox="1"/>
            <p:nvPr/>
          </p:nvSpPr>
          <p:spPr>
            <a:xfrm>
              <a:off x="11226800" y="5378425"/>
              <a:ext cx="43689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8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1">
                  <a:solidFill>
                    <a:srgbClr val="16161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EDA</a:t>
              </a:r>
              <a:endParaRPr/>
            </a:p>
          </p:txBody>
        </p:sp>
        <p:sp>
          <p:nvSpPr>
            <p:cNvPr id="116" name="Google Shape;116;g3a842c6e4b2_0_3"/>
            <p:cNvSpPr txBox="1"/>
            <p:nvPr/>
          </p:nvSpPr>
          <p:spPr>
            <a:xfrm>
              <a:off x="9994900" y="5359400"/>
              <a:ext cx="97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504EE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/>
            </a:p>
          </p:txBody>
        </p:sp>
        <p:sp>
          <p:nvSpPr>
            <p:cNvPr id="117" name="Google Shape;117;g3a842c6e4b2_0_3"/>
            <p:cNvSpPr txBox="1"/>
            <p:nvPr/>
          </p:nvSpPr>
          <p:spPr>
            <a:xfrm>
              <a:off x="11226800" y="6680150"/>
              <a:ext cx="43689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8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1">
                  <a:solidFill>
                    <a:srgbClr val="16161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Baseline</a:t>
              </a:r>
              <a:endParaRPr/>
            </a:p>
          </p:txBody>
        </p:sp>
        <p:sp>
          <p:nvSpPr>
            <p:cNvPr id="118" name="Google Shape;118;g3a842c6e4b2_0_3"/>
            <p:cNvSpPr txBox="1"/>
            <p:nvPr/>
          </p:nvSpPr>
          <p:spPr>
            <a:xfrm>
              <a:off x="9994900" y="6642100"/>
              <a:ext cx="97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EAEAE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  <a:endParaRPr/>
            </a:p>
          </p:txBody>
        </p:sp>
        <p:sp>
          <p:nvSpPr>
            <p:cNvPr id="119" name="Google Shape;119;g3a842c6e4b2_0_3"/>
            <p:cNvSpPr txBox="1"/>
            <p:nvPr/>
          </p:nvSpPr>
          <p:spPr>
            <a:xfrm>
              <a:off x="11226800" y="1473250"/>
              <a:ext cx="61596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8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1">
                  <a:solidFill>
                    <a:srgbClr val="16161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Goal of the project</a:t>
              </a:r>
              <a:endParaRPr/>
            </a:p>
          </p:txBody>
        </p:sp>
      </p:grpSp>
      <p:pic>
        <p:nvPicPr>
          <p:cNvPr id="120" name="Google Shape;120;g3a842c6e4b2_0_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800000" flipH="1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a925efd686_0_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280320"/>
            <a:ext cx="8001000" cy="6366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a925efd686_0_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9750" y="3280320"/>
            <a:ext cx="8001000" cy="6366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a925efd686_0_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0163" y="8615103"/>
            <a:ext cx="71151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a925efd686_0_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72663" y="8615103"/>
            <a:ext cx="71151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a925efd686_0_0"/>
          <p:cNvSpPr txBox="1"/>
          <p:nvPr/>
        </p:nvSpPr>
        <p:spPr>
          <a:xfrm>
            <a:off x="1200150" y="714375"/>
            <a:ext cx="170421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GOAL: CAPTURING "EXTERNAL MARKET CONDITIONS"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a925efd686_0_0"/>
          <p:cNvSpPr txBox="1"/>
          <p:nvPr/>
        </p:nvSpPr>
        <p:spPr>
          <a:xfrm>
            <a:off x="857250" y="2028825"/>
            <a:ext cx="12858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Traditional price-only models fail to reflect external factors (News, Macroeconomics). </a:t>
            </a:r>
            <a:endParaRPr sz="2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key challenge is: </a:t>
            </a:r>
            <a:r>
              <a:rPr lang="en-US"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do we capture these efficiently?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g3a925efd686_0_0"/>
          <p:cNvSpPr txBox="1"/>
          <p:nvPr/>
        </p:nvSpPr>
        <p:spPr>
          <a:xfrm>
            <a:off x="1300163" y="7666583"/>
            <a:ext cx="7115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Attemps to capture market conditions directly by processing massive amounts of news text.</a:t>
            </a:r>
            <a:endParaRPr sz="2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g3a925efd686_0_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3988" y="634923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a925efd686_0_0"/>
          <p:cNvSpPr txBox="1"/>
          <p:nvPr/>
        </p:nvSpPr>
        <p:spPr>
          <a:xfrm>
            <a:off x="9872663" y="7666583"/>
            <a:ext cx="7115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Captures market conditions indirectly by analyzing how external shocks ripple through the network.</a:t>
            </a:r>
            <a:endParaRPr sz="2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g3a925efd686_0_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00163" y="372323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a925efd686_0_0"/>
          <p:cNvSpPr txBox="1"/>
          <p:nvPr/>
        </p:nvSpPr>
        <p:spPr>
          <a:xfrm>
            <a:off x="2085975" y="3801825"/>
            <a:ext cx="563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Recent Trend: NLP-Based</a:t>
            </a:r>
            <a:endParaRPr sz="2100"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g3a925efd686_0_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00163" y="4809083"/>
            <a:ext cx="71151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a925efd686_0_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72663" y="372323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a925efd686_0_0"/>
          <p:cNvSpPr txBox="1"/>
          <p:nvPr/>
        </p:nvSpPr>
        <p:spPr>
          <a:xfrm>
            <a:off x="10658475" y="3801825"/>
            <a:ext cx="7784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Our Approach: Interconnectedness</a:t>
            </a:r>
            <a:endParaRPr sz="2100"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Google Shape;139;g3a925efd686_0_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72663" y="4809083"/>
            <a:ext cx="71151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a925efd686_0_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78756" y="3866108"/>
            <a:ext cx="21431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a925efd686_0_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15538" y="3866108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/>
          <p:nvPr/>
        </p:nvSpPr>
        <p:spPr>
          <a:xfrm>
            <a:off x="3932006" y="301073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Related Works</a:t>
            </a:r>
            <a:endParaRPr/>
          </a:p>
        </p:txBody>
      </p:sp>
      <p:pic>
        <p:nvPicPr>
          <p:cNvPr id="147" name="Google Shape;14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2800" y="5029951"/>
            <a:ext cx="15566774" cy="366139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 txBox="1"/>
          <p:nvPr/>
        </p:nvSpPr>
        <p:spPr>
          <a:xfrm>
            <a:off x="1839142" y="5992720"/>
            <a:ext cx="140484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 b="1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-US" sz="30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Stock Returns’ Co-Movement: A Spatial Model with Convex Combination of Connectivity Matrices&gt;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3000">
                <a:solidFill>
                  <a:srgbClr val="000000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Abdallah et al., 2025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○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cross- and within-country linkages between different stocks</a:t>
            </a: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1839142" y="7749161"/>
            <a:ext cx="140484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&lt;Comparative Analysis of Spillover Effects in the Global Stock Market under Normal and Extreme Market Conditions&gt;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3000">
                <a:solidFill>
                  <a:srgbClr val="000000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Liu et al., 2024)</a:t>
            </a: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1" indent="-3810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○"/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volatility spillover index to model interconnectedness in 20 major stock markets.</a:t>
            </a: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0" name="Google Shape;15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650" y="1700271"/>
            <a:ext cx="15566800" cy="19852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1828800" y="2469494"/>
            <a:ext cx="129312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71600" lvl="0" indent="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solidFill>
                  <a:srgbClr val="282624"/>
                </a:solidFill>
                <a:highlight>
                  <a:srgbClr val="F6F4F4"/>
                </a:highlight>
                <a:latin typeface="Montserrat"/>
                <a:ea typeface="Montserrat"/>
                <a:cs typeface="Montserrat"/>
                <a:sym typeface="Montserrat"/>
              </a:rPr>
              <a:t>&lt;LLM-Augmented Linear Transformer–CNN for Enhanced Stock Price Prediction&gt; </a:t>
            </a:r>
            <a:r>
              <a:rPr lang="en-US" sz="3000">
                <a:solidFill>
                  <a:srgbClr val="282624"/>
                </a:solidFill>
                <a:highlight>
                  <a:srgbClr val="F6F4F4"/>
                </a:highlight>
                <a:latin typeface="Montserrat"/>
                <a:ea typeface="Montserrat"/>
                <a:cs typeface="Montserrat"/>
                <a:sym typeface="Montserrat"/>
              </a:rPr>
              <a:t>(Zhou et al., 2025)</a:t>
            </a:r>
            <a:endParaRPr sz="3000">
              <a:solidFill>
                <a:srgbClr val="282624"/>
              </a:solidFill>
              <a:highlight>
                <a:srgbClr val="F6F4F4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6279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3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2" name="Google Shape;152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1325464"/>
            <a:ext cx="8216301" cy="746902"/>
          </a:xfrm>
          <a:prstGeom prst="rect">
            <a:avLst/>
          </a:prstGeom>
          <a:noFill/>
          <a:ln>
            <a:noFill/>
          </a:ln>
          <a:effectLst>
            <a:outerShdw blurRad="33213" dist="208371" dir="2700000">
              <a:srgbClr val="3B4C82">
                <a:alpha val="22750"/>
              </a:srgbClr>
            </a:outerShdw>
          </a:effectLst>
        </p:spPr>
      </p:pic>
      <p:sp>
        <p:nvSpPr>
          <p:cNvPr id="153" name="Google Shape;153;p3"/>
          <p:cNvSpPr txBox="1"/>
          <p:nvPr/>
        </p:nvSpPr>
        <p:spPr>
          <a:xfrm>
            <a:off x="2133400" y="1458741"/>
            <a:ext cx="57783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NLP, multimodal based</a:t>
            </a:r>
            <a:endParaRPr sz="2117"/>
          </a:p>
        </p:txBody>
      </p:sp>
      <p:pic>
        <p:nvPicPr>
          <p:cNvPr id="154" name="Google Shape;154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4632243"/>
            <a:ext cx="8216301" cy="746902"/>
          </a:xfrm>
          <a:prstGeom prst="rect">
            <a:avLst/>
          </a:prstGeom>
          <a:noFill/>
          <a:ln>
            <a:noFill/>
          </a:ln>
          <a:effectLst>
            <a:outerShdw blurRad="33213" dist="208371" dir="2700000">
              <a:srgbClr val="3B4C82">
                <a:alpha val="22750"/>
              </a:srgbClr>
            </a:outerShdw>
          </a:effectLst>
        </p:spPr>
      </p:pic>
      <p:sp>
        <p:nvSpPr>
          <p:cNvPr id="155" name="Google Shape;155;p3"/>
          <p:cNvSpPr txBox="1"/>
          <p:nvPr/>
        </p:nvSpPr>
        <p:spPr>
          <a:xfrm>
            <a:off x="2188750" y="4789715"/>
            <a:ext cx="56676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Interconnectedness, Spillover</a:t>
            </a:r>
            <a:endParaRPr sz="2117"/>
          </a:p>
        </p:txBody>
      </p:sp>
      <p:sp>
        <p:nvSpPr>
          <p:cNvPr id="156" name="Google Shape;156;p3"/>
          <p:cNvSpPr txBox="1"/>
          <p:nvPr/>
        </p:nvSpPr>
        <p:spPr>
          <a:xfrm>
            <a:off x="1374025" y="8197855"/>
            <a:ext cx="9289200" cy="1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1371600" y="3844396"/>
            <a:ext cx="1227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>
                <a:solidFill>
                  <a:srgbClr val="E69138"/>
                </a:solidFill>
                <a:latin typeface="Montserrat"/>
                <a:ea typeface="Montserrat"/>
                <a:cs typeface="Montserrat"/>
                <a:sym typeface="Montserrat"/>
              </a:rPr>
              <a:t> → (-): costly, requires extra resources like financial text.</a:t>
            </a:r>
            <a:endParaRPr sz="3000" b="1">
              <a:solidFill>
                <a:srgbClr val="E691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371600" y="8769750"/>
            <a:ext cx="15566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>
                <a:solidFill>
                  <a:srgbClr val="E69138"/>
                </a:solidFill>
                <a:latin typeface="Montserrat"/>
                <a:ea typeface="Montserrat"/>
                <a:cs typeface="Montserrat"/>
                <a:sym typeface="Montserrat"/>
              </a:rPr>
              <a:t> → (X) use identified comovement patterns, spillover effects in prediction.</a:t>
            </a:r>
            <a:endParaRPr sz="3000" b="1">
              <a:solidFill>
                <a:srgbClr val="E691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1373101" y="9198825"/>
            <a:ext cx="15914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>
                <a:solidFill>
                  <a:srgbClr val="E69138"/>
                </a:solidFill>
                <a:latin typeface="Montserrat"/>
                <a:ea typeface="Montserrat"/>
                <a:cs typeface="Montserrat"/>
                <a:sym typeface="Montserrat"/>
              </a:rPr>
              <a:t> → (X) comparison between nlp-based vs interconnectedness-based </a:t>
            </a:r>
            <a:endParaRPr sz="3000" b="1">
              <a:solidFill>
                <a:srgbClr val="E691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8e9774aed_2_1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Approach</a:t>
            </a:r>
            <a:endParaRPr/>
          </a:p>
        </p:txBody>
      </p:sp>
      <p:graphicFrame>
        <p:nvGraphicFramePr>
          <p:cNvPr id="165" name="Google Shape;165;g3a8e9774aed_2_1"/>
          <p:cNvGraphicFramePr/>
          <p:nvPr/>
        </p:nvGraphicFramePr>
        <p:xfrm>
          <a:off x="1191400" y="2528538"/>
          <a:ext cx="15905200" cy="6531614"/>
        </p:xfrm>
        <a:graphic>
          <a:graphicData uri="http://schemas.openxmlformats.org/drawingml/2006/table">
            <a:tbl>
              <a:tblPr>
                <a:noFill/>
                <a:tableStyleId>{9285F7F7-3823-4906-A7B7-1DBE18F132E8}</a:tableStyleId>
              </a:tblPr>
              <a:tblGrid>
                <a:gridCol w="79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9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>
                          <a:solidFill>
                            <a:srgbClr val="504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Sentiment-based</a:t>
                      </a:r>
                      <a:endParaRPr sz="3200" b="1">
                        <a:solidFill>
                          <a:srgbClr val="504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>
                          <a:solidFill>
                            <a:srgbClr val="504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Correlation, interconnectedness-based</a:t>
                      </a:r>
                      <a:endParaRPr sz="3200" b="1">
                        <a:solidFill>
                          <a:srgbClr val="504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500">
                <a:tc>
                  <a:txBody>
                    <a:bodyPr/>
                    <a:lstStyle/>
                    <a:p>
                      <a:pPr marL="457200" lvl="0" indent="-431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3200"/>
                        <a:buFont typeface="Montserrat"/>
                        <a:buChar char="●"/>
                      </a:pPr>
                      <a:r>
                        <a:rPr lang="en-US" sz="3200" u="sng">
                          <a:solidFill>
                            <a:srgbClr val="3C78D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GDELT Tone score</a:t>
                      </a:r>
                      <a:r>
                        <a:rPr lang="en-US" sz="3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based on global news articles</a:t>
                      </a:r>
                      <a:endParaRPr sz="3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431800" algn="l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SzPts val="3200"/>
                        <a:buFont typeface="Montserrat"/>
                        <a:buChar char="●"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Pearson correlation, CCF(Cross-Correlation Function),  DTW similarity score, Granger causality test</a:t>
                      </a:r>
                      <a:endParaRPr sz="3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431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Montserrat"/>
                        <a:buChar char="●"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Find correlated features (c.f: log-return, volatility)</a:t>
                      </a:r>
                      <a:endParaRPr sz="3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0" algn="l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→ </a:t>
                      </a:r>
                      <a:r>
                        <a:rPr lang="en-US" sz="32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VARMA/LSTM</a:t>
                      </a:r>
                      <a:r>
                        <a:rPr lang="en-US" sz="3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3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66" name="Google Shape;166;g3a8e9774aed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63703" y="6881125"/>
            <a:ext cx="10007700" cy="35304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g3a8e9774aed_2_1"/>
          <p:cNvCxnSpPr>
            <a:endCxn id="166" idx="0"/>
          </p:cNvCxnSpPr>
          <p:nvPr/>
        </p:nvCxnSpPr>
        <p:spPr>
          <a:xfrm flipH="1">
            <a:off x="4140147" y="4191925"/>
            <a:ext cx="290700" cy="2689200"/>
          </a:xfrm>
          <a:prstGeom prst="straightConnector1">
            <a:avLst/>
          </a:prstGeom>
          <a:noFill/>
          <a:ln w="38100" cap="flat" cmpd="sng">
            <a:solidFill>
              <a:srgbClr val="3D85C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a8e9774aed_0_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4600" y="2921000"/>
            <a:ext cx="7912100" cy="58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a8e9774aed_0_1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0" y="2921000"/>
            <a:ext cx="75184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a8e9774aed_0_1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20300" y="33274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st="137746" dir="2700000">
              <a:srgbClr val="3B4C82">
                <a:alpha val="22750"/>
              </a:srgbClr>
            </a:outerShdw>
          </a:effectLst>
        </p:spPr>
      </p:pic>
      <p:pic>
        <p:nvPicPr>
          <p:cNvPr id="175" name="Google Shape;175;g3a8e9774aed_0_1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0" y="4927600"/>
            <a:ext cx="75184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a8e9774aed_0_1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20300" y="53340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st="137746" dir="2700000">
              <a:srgbClr val="3B4C82">
                <a:alpha val="22750"/>
              </a:srgbClr>
            </a:outerShdw>
          </a:effectLst>
        </p:spPr>
      </p:pic>
      <p:pic>
        <p:nvPicPr>
          <p:cNvPr id="177" name="Google Shape;177;g3a8e9774aed_0_1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0" y="6921500"/>
            <a:ext cx="7518400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a8e9774aed_0_1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20300" y="73279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st="137746" dir="2700000">
              <a:srgbClr val="3B4C82">
                <a:alpha val="22750"/>
              </a:srgbClr>
            </a:outerShdw>
          </a:effectLst>
        </p:spPr>
      </p:pic>
      <p:sp>
        <p:nvSpPr>
          <p:cNvPr id="179" name="Google Shape;179;g3a8e9774aed_0_138"/>
          <p:cNvSpPr txBox="1"/>
          <p:nvPr/>
        </p:nvSpPr>
        <p:spPr>
          <a:xfrm>
            <a:off x="5257800" y="1003300"/>
            <a:ext cx="77724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/>
          </a:p>
        </p:txBody>
      </p:sp>
      <p:sp>
        <p:nvSpPr>
          <p:cNvPr id="180" name="Google Shape;180;g3a8e9774aed_0_138"/>
          <p:cNvSpPr txBox="1"/>
          <p:nvPr/>
        </p:nvSpPr>
        <p:spPr>
          <a:xfrm>
            <a:off x="11303000" y="3441700"/>
            <a:ext cx="52323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Rapid increase, Rapid drop</a:t>
            </a:r>
            <a:endParaRPr/>
          </a:p>
        </p:txBody>
      </p:sp>
      <p:sp>
        <p:nvSpPr>
          <p:cNvPr id="181" name="Google Shape;181;g3a8e9774aed_0_138"/>
          <p:cNvSpPr txBox="1"/>
          <p:nvPr/>
        </p:nvSpPr>
        <p:spPr>
          <a:xfrm>
            <a:off x="9982200" y="35687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82" name="Google Shape;182;g3a8e9774aed_0_138"/>
          <p:cNvSpPr txBox="1"/>
          <p:nvPr/>
        </p:nvSpPr>
        <p:spPr>
          <a:xfrm>
            <a:off x="11303000" y="5448300"/>
            <a:ext cx="52323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Missing value check</a:t>
            </a:r>
            <a:endParaRPr/>
          </a:p>
        </p:txBody>
      </p:sp>
      <p:sp>
        <p:nvSpPr>
          <p:cNvPr id="183" name="Google Shape;183;g3a8e9774aed_0_138"/>
          <p:cNvSpPr txBox="1"/>
          <p:nvPr/>
        </p:nvSpPr>
        <p:spPr>
          <a:xfrm>
            <a:off x="9982200" y="55753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04EEE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84" name="Google Shape;184;g3a8e9774aed_0_138"/>
          <p:cNvSpPr txBox="1"/>
          <p:nvPr/>
        </p:nvSpPr>
        <p:spPr>
          <a:xfrm>
            <a:off x="11303000" y="7442200"/>
            <a:ext cx="52323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Outlier Check</a:t>
            </a:r>
            <a:endParaRPr/>
          </a:p>
        </p:txBody>
      </p:sp>
      <p:sp>
        <p:nvSpPr>
          <p:cNvPr id="185" name="Google Shape;185;g3a8e9774aed_0_138"/>
          <p:cNvSpPr txBox="1"/>
          <p:nvPr/>
        </p:nvSpPr>
        <p:spPr>
          <a:xfrm>
            <a:off x="9982200" y="75692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pic>
        <p:nvPicPr>
          <p:cNvPr id="186" name="Google Shape;186;g3a8e9774aed_0_1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60950" y="3035013"/>
            <a:ext cx="6790125" cy="54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a8e9774aed_0_13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800000" flipH="1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a8e9774aed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a8e9774aed_0_182"/>
          <p:cNvSpPr txBox="1"/>
          <p:nvPr/>
        </p:nvSpPr>
        <p:spPr>
          <a:xfrm>
            <a:off x="1092200" y="815594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pic>
        <p:nvPicPr>
          <p:cNvPr id="194" name="Google Shape;194;g3a8e9774aed_0_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a8e9774aed_0_1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300" y="2856105"/>
            <a:ext cx="9765051" cy="4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a8e9774aed_0_182"/>
          <p:cNvSpPr/>
          <p:nvPr/>
        </p:nvSpPr>
        <p:spPr>
          <a:xfrm>
            <a:off x="9207525" y="5808005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a8e9774aed_0_182"/>
          <p:cNvSpPr/>
          <p:nvPr/>
        </p:nvSpPr>
        <p:spPr>
          <a:xfrm>
            <a:off x="9598050" y="4740005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a8e9774aed_0_182"/>
          <p:cNvSpPr/>
          <p:nvPr/>
        </p:nvSpPr>
        <p:spPr>
          <a:xfrm>
            <a:off x="11372675" y="5012330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g3a8e9774aed_0_1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9300" y="2856106"/>
            <a:ext cx="9718949" cy="4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a8e9774aed_0_182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Log transformation</a:t>
            </a:r>
            <a:endParaRPr/>
          </a:p>
        </p:txBody>
      </p:sp>
      <p:sp>
        <p:nvSpPr>
          <p:cNvPr id="201" name="Google Shape;201;g3a8e9774aed_0_182"/>
          <p:cNvSpPr txBox="1"/>
          <p:nvPr/>
        </p:nvSpPr>
        <p:spPr>
          <a:xfrm>
            <a:off x="5655950" y="8244605"/>
            <a:ext cx="69000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8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Apply log transformation to adjust scale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a8e9774aed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a8e9774aed_0_0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Missing Value</a:t>
            </a:r>
            <a:endParaRPr/>
          </a:p>
        </p:txBody>
      </p:sp>
      <p:sp>
        <p:nvSpPr>
          <p:cNvPr id="208" name="Google Shape;208;g3a8e9774aed_0_0"/>
          <p:cNvSpPr txBox="1"/>
          <p:nvPr/>
        </p:nvSpPr>
        <p:spPr>
          <a:xfrm>
            <a:off x="1092200" y="840393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09" name="Google Shape;209;g3a8e9774aed_0_0"/>
          <p:cNvSpPr txBox="1"/>
          <p:nvPr/>
        </p:nvSpPr>
        <p:spPr>
          <a:xfrm>
            <a:off x="1092200" y="8214830"/>
            <a:ext cx="157617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8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Missing Value occurs during the process of aligning domestic and international companies</a:t>
            </a:r>
            <a:endParaRPr sz="2000"/>
          </a:p>
        </p:txBody>
      </p:sp>
      <p:pic>
        <p:nvPicPr>
          <p:cNvPr id="210" name="Google Shape;210;g3a8e9774aed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a8e9774ae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300" y="2856105"/>
            <a:ext cx="9765051" cy="4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a8e9774aed_0_0"/>
          <p:cNvSpPr/>
          <p:nvPr/>
        </p:nvSpPr>
        <p:spPr>
          <a:xfrm>
            <a:off x="9207525" y="5808005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a8e9774aed_0_0"/>
          <p:cNvSpPr/>
          <p:nvPr/>
        </p:nvSpPr>
        <p:spPr>
          <a:xfrm>
            <a:off x="9598050" y="4740005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a8e9774aed_0_0"/>
          <p:cNvSpPr/>
          <p:nvPr/>
        </p:nvSpPr>
        <p:spPr>
          <a:xfrm>
            <a:off x="11372675" y="5012330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g3a8e9774aed_0_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a8e9774aed_0_124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Missing Value</a:t>
            </a:r>
            <a:endParaRPr/>
          </a:p>
        </p:txBody>
      </p:sp>
      <p:sp>
        <p:nvSpPr>
          <p:cNvPr id="221" name="Google Shape;221;g3a8e9774aed_0_124"/>
          <p:cNvSpPr txBox="1"/>
          <p:nvPr/>
        </p:nvSpPr>
        <p:spPr>
          <a:xfrm>
            <a:off x="1092200" y="80645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22" name="Google Shape;222;g3a8e9774aed_0_124"/>
          <p:cNvSpPr txBox="1"/>
          <p:nvPr/>
        </p:nvSpPr>
        <p:spPr>
          <a:xfrm>
            <a:off x="3698900" y="8214830"/>
            <a:ext cx="108141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8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101 interpolated points follows original trends with interpolation</a:t>
            </a:r>
            <a:endParaRPr sz="2000"/>
          </a:p>
        </p:txBody>
      </p:sp>
      <p:pic>
        <p:nvPicPr>
          <p:cNvPr id="223" name="Google Shape;223;g3a8e9774aed_0_1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a8e9774aed_0_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300" y="2856105"/>
            <a:ext cx="9765051" cy="4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a8e9774aed_0_124"/>
          <p:cNvSpPr/>
          <p:nvPr/>
        </p:nvSpPr>
        <p:spPr>
          <a:xfrm>
            <a:off x="9207525" y="5808005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a8e9774aed_0_124"/>
          <p:cNvSpPr/>
          <p:nvPr/>
        </p:nvSpPr>
        <p:spPr>
          <a:xfrm>
            <a:off x="9598050" y="4740005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a8e9774aed_0_124"/>
          <p:cNvSpPr/>
          <p:nvPr/>
        </p:nvSpPr>
        <p:spPr>
          <a:xfrm>
            <a:off x="11372675" y="5012330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g3a8e9774aed_0_1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9300" y="2856105"/>
            <a:ext cx="9765076" cy="46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a8e9774aed_0_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a8e9774aed_0_197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Outlier check</a:t>
            </a:r>
            <a:endParaRPr/>
          </a:p>
        </p:txBody>
      </p:sp>
      <p:sp>
        <p:nvSpPr>
          <p:cNvPr id="235" name="Google Shape;235;g3a8e9774aed_0_197"/>
          <p:cNvSpPr txBox="1"/>
          <p:nvPr/>
        </p:nvSpPr>
        <p:spPr>
          <a:xfrm>
            <a:off x="1092200" y="840393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36" name="Google Shape;236;g3a8e9774aed_0_197"/>
          <p:cNvSpPr txBox="1"/>
          <p:nvPr/>
        </p:nvSpPr>
        <p:spPr>
          <a:xfrm>
            <a:off x="2301050" y="8214830"/>
            <a:ext cx="136098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Prices after the sharp increase are considered as outliers when detecting with 3𝛔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However, these values reflects characteristics of TESLA data → preserve them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37" name="Google Shape;237;g3a8e9774aed_0_1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a8e9774aed_0_1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300" y="2856105"/>
            <a:ext cx="9765051" cy="46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a8e9774aed_0_197"/>
          <p:cNvSpPr/>
          <p:nvPr/>
        </p:nvSpPr>
        <p:spPr>
          <a:xfrm>
            <a:off x="9207525" y="5808005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a8e9774aed_0_197"/>
          <p:cNvSpPr/>
          <p:nvPr/>
        </p:nvSpPr>
        <p:spPr>
          <a:xfrm>
            <a:off x="9598050" y="4740005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a8e9774aed_0_197"/>
          <p:cNvSpPr/>
          <p:nvPr/>
        </p:nvSpPr>
        <p:spPr>
          <a:xfrm>
            <a:off x="11372675" y="5012330"/>
            <a:ext cx="663300" cy="663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g3a8e9774aed_0_1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9300" y="2873024"/>
            <a:ext cx="9765051" cy="451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3a8e9774aed_0_2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a8e9774aed_0_212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Baseline Performance</a:t>
            </a:r>
            <a:endParaRPr/>
          </a:p>
        </p:txBody>
      </p:sp>
      <p:sp>
        <p:nvSpPr>
          <p:cNvPr id="249" name="Google Shape;249;g3a8e9774aed_0_212"/>
          <p:cNvSpPr txBox="1"/>
          <p:nvPr/>
        </p:nvSpPr>
        <p:spPr>
          <a:xfrm>
            <a:off x="1092200" y="840393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50" name="Google Shape;250;g3a8e9774aed_0_212"/>
          <p:cNvSpPr txBox="1"/>
          <p:nvPr/>
        </p:nvSpPr>
        <p:spPr>
          <a:xfrm>
            <a:off x="2301050" y="8214830"/>
            <a:ext cx="136098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LSTM capture variations relatively well and achieves moderate performance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1" name="Google Shape;251;g3a8e9774aed_0_2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a8e9774aed_0_2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8050" y="2828268"/>
            <a:ext cx="7595800" cy="46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a8e9774aed_0_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a8e9774aed_0_226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Baseline Performance</a:t>
            </a:r>
            <a:endParaRPr/>
          </a:p>
        </p:txBody>
      </p:sp>
      <p:sp>
        <p:nvSpPr>
          <p:cNvPr id="259" name="Google Shape;259;g3a8e9774aed_0_226"/>
          <p:cNvSpPr txBox="1"/>
          <p:nvPr/>
        </p:nvSpPr>
        <p:spPr>
          <a:xfrm>
            <a:off x="1092200" y="80645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60" name="Google Shape;260;g3a8e9774aed_0_226"/>
          <p:cNvSpPr txBox="1"/>
          <p:nvPr/>
        </p:nvSpPr>
        <p:spPr>
          <a:xfrm>
            <a:off x="2301050" y="8214830"/>
            <a:ext cx="136098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However, there’s still gap between prediction and real prices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61" name="Google Shape;261;g3a8e9774aed_0_2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a8e9774aed_0_2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1463" y="2763680"/>
            <a:ext cx="10208975" cy="46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a8e9774aed_0_226"/>
          <p:cNvSpPr/>
          <p:nvPr/>
        </p:nvSpPr>
        <p:spPr>
          <a:xfrm>
            <a:off x="9257100" y="3420180"/>
            <a:ext cx="1398900" cy="2961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a8e9774aed_0_226"/>
          <p:cNvSpPr/>
          <p:nvPr/>
        </p:nvSpPr>
        <p:spPr>
          <a:xfrm>
            <a:off x="12843875" y="3345755"/>
            <a:ext cx="1056600" cy="1756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3a8e9774aed_0_2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700" y="2468880"/>
            <a:ext cx="12382500" cy="540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a8e9774aed_0_238"/>
          <p:cNvSpPr txBox="1"/>
          <p:nvPr/>
        </p:nvSpPr>
        <p:spPr>
          <a:xfrm>
            <a:off x="4102100" y="1003300"/>
            <a:ext cx="100077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Baseline Performance</a:t>
            </a:r>
            <a:endParaRPr/>
          </a:p>
        </p:txBody>
      </p:sp>
      <p:sp>
        <p:nvSpPr>
          <p:cNvPr id="271" name="Google Shape;271;g3a8e9774aed_0_238"/>
          <p:cNvSpPr txBox="1"/>
          <p:nvPr/>
        </p:nvSpPr>
        <p:spPr>
          <a:xfrm>
            <a:off x="1092200" y="80645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72" name="Google Shape;272;g3a8e9774aed_0_238"/>
          <p:cNvSpPr txBox="1"/>
          <p:nvPr/>
        </p:nvSpPr>
        <p:spPr>
          <a:xfrm>
            <a:off x="2301050" y="7875400"/>
            <a:ext cx="13609800" cy="18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Fails to handle sharp increase caused by </a:t>
            </a:r>
            <a:r>
              <a:rPr lang="en-US" sz="2600">
                <a:solidFill>
                  <a:srgbClr val="504EE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external</a:t>
            </a: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events.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Cybercab release: Cannot reflect with hyundai data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 market expansion: Can reflect with hyundai data</a:t>
            </a:r>
            <a:endParaRPr sz="26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73" name="Google Shape;273;g3a8e9774aed_0_2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a8e9774aed_0_2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975" y="3262618"/>
            <a:ext cx="5548800" cy="376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a8e9774aed_0_2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15550" y="3262618"/>
            <a:ext cx="5189399" cy="376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a8e9774aed_0_238"/>
          <p:cNvSpPr txBox="1"/>
          <p:nvPr/>
        </p:nvSpPr>
        <p:spPr>
          <a:xfrm>
            <a:off x="5296775" y="7153400"/>
            <a:ext cx="1735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latin typeface="Montserrat SemiBold"/>
                <a:ea typeface="Montserrat SemiBold"/>
                <a:cs typeface="Montserrat SemiBold"/>
                <a:sym typeface="Montserrat SemiBold"/>
              </a:rPr>
              <a:t>2024 October</a:t>
            </a: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7" name="Google Shape;277;g3a8e9774aed_0_238"/>
          <p:cNvSpPr txBox="1"/>
          <p:nvPr/>
        </p:nvSpPr>
        <p:spPr>
          <a:xfrm>
            <a:off x="11234500" y="7226700"/>
            <a:ext cx="195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latin typeface="Montserrat SemiBold"/>
                <a:ea typeface="Montserrat SemiBold"/>
                <a:cs typeface="Montserrat SemiBold"/>
                <a:sym typeface="Montserrat SemiBold"/>
              </a:rPr>
              <a:t>2025 November</a:t>
            </a: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3a8f4737761_0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9600" y="2921000"/>
            <a:ext cx="15673799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a8f4737761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2075" y="33719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st="137746" dir="2700000">
              <a:srgbClr val="3B4C82">
                <a:alpha val="22750"/>
              </a:srgbClr>
            </a:outerShdw>
          </a:effectLst>
        </p:spPr>
      </p:pic>
      <p:pic>
        <p:nvPicPr>
          <p:cNvPr id="284" name="Google Shape;284;g3a8f4737761_0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9600" y="4927600"/>
            <a:ext cx="15673799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a8f4737761_0_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52075" y="53087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st="137746" dir="2700000">
              <a:srgbClr val="3B4C82">
                <a:alpha val="22750"/>
              </a:srgbClr>
            </a:outerShdw>
          </a:effectLst>
        </p:spPr>
      </p:pic>
      <p:pic>
        <p:nvPicPr>
          <p:cNvPr id="286" name="Google Shape;286;g3a8f4737761_0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9600" y="6921500"/>
            <a:ext cx="15673799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a8f4737761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2075" y="7302600"/>
            <a:ext cx="901700" cy="889000"/>
          </a:xfrm>
          <a:prstGeom prst="rect">
            <a:avLst/>
          </a:prstGeom>
          <a:noFill/>
          <a:ln>
            <a:noFill/>
          </a:ln>
          <a:effectLst>
            <a:outerShdw blurRad="21956" dist="137746" dir="2700000">
              <a:srgbClr val="3B4C82">
                <a:alpha val="22750"/>
              </a:srgbClr>
            </a:outerShdw>
          </a:effectLst>
        </p:spPr>
      </p:pic>
      <p:sp>
        <p:nvSpPr>
          <p:cNvPr id="288" name="Google Shape;288;g3a8f4737761_0_19"/>
          <p:cNvSpPr txBox="1"/>
          <p:nvPr/>
        </p:nvSpPr>
        <p:spPr>
          <a:xfrm>
            <a:off x="5257800" y="1003300"/>
            <a:ext cx="77724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/>
          </a:p>
        </p:txBody>
      </p:sp>
      <p:sp>
        <p:nvSpPr>
          <p:cNvPr id="289" name="Google Shape;289;g3a8f4737761_0_19"/>
          <p:cNvSpPr txBox="1"/>
          <p:nvPr/>
        </p:nvSpPr>
        <p:spPr>
          <a:xfrm>
            <a:off x="3315900" y="3460700"/>
            <a:ext cx="117747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Naive approach fail to capture variation caused by external events </a:t>
            </a:r>
            <a:endParaRPr/>
          </a:p>
        </p:txBody>
      </p:sp>
      <p:sp>
        <p:nvSpPr>
          <p:cNvPr id="290" name="Google Shape;290;g3a8f4737761_0_19"/>
          <p:cNvSpPr txBox="1"/>
          <p:nvPr/>
        </p:nvSpPr>
        <p:spPr>
          <a:xfrm>
            <a:off x="1913975" y="36132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291" name="Google Shape;291;g3a8f4737761_0_19"/>
          <p:cNvSpPr txBox="1"/>
          <p:nvPr/>
        </p:nvSpPr>
        <p:spPr>
          <a:xfrm>
            <a:off x="3315900" y="5467300"/>
            <a:ext cx="104820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NLP-based approach suggested by previous approach are too costly</a:t>
            </a:r>
            <a:endParaRPr/>
          </a:p>
        </p:txBody>
      </p:sp>
      <p:sp>
        <p:nvSpPr>
          <p:cNvPr id="292" name="Google Shape;292;g3a8f4737761_0_19"/>
          <p:cNvSpPr txBox="1"/>
          <p:nvPr/>
        </p:nvSpPr>
        <p:spPr>
          <a:xfrm>
            <a:off x="1913975" y="55500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04EEE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293" name="Google Shape;293;g3a8f4737761_0_19"/>
          <p:cNvSpPr txBox="1"/>
          <p:nvPr/>
        </p:nvSpPr>
        <p:spPr>
          <a:xfrm>
            <a:off x="3315900" y="7461200"/>
            <a:ext cx="122643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 efficiency of interconnectedness-based approach </a:t>
            </a:r>
            <a:endParaRPr sz="2300">
              <a:solidFill>
                <a:srgbClr val="16161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6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comparing it to sentiment-based approach</a:t>
            </a:r>
            <a:endParaRPr/>
          </a:p>
        </p:txBody>
      </p:sp>
      <p:sp>
        <p:nvSpPr>
          <p:cNvPr id="294" name="Google Shape;294;g3a8f4737761_0_19"/>
          <p:cNvSpPr txBox="1"/>
          <p:nvPr/>
        </p:nvSpPr>
        <p:spPr>
          <a:xfrm>
            <a:off x="1913975" y="7543900"/>
            <a:ext cx="97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AEAE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pic>
        <p:nvPicPr>
          <p:cNvPr id="295" name="Google Shape;295;g3a8f4737761_0_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 flipH="1">
            <a:off x="406400" y="9840468"/>
            <a:ext cx="17528924" cy="27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Office PowerPoint</Application>
  <PresentationFormat>사용자 지정</PresentationFormat>
  <Paragraphs>81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Montserrat SemiBold</vt:lpstr>
      <vt:lpstr>Arial</vt:lpstr>
      <vt:lpstr>Montserrat ExtraBold</vt:lpstr>
      <vt:lpstr>Calibri</vt:lpstr>
      <vt:lpstr>Montserrat Medium</vt:lpstr>
      <vt:lpstr>Montserrat</vt:lpstr>
      <vt:lpstr>Montserrat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민지홍</dc:creator>
  <cp:lastModifiedBy>지홍 민</cp:lastModifiedBy>
  <cp:revision>1</cp:revision>
  <dcterms:created xsi:type="dcterms:W3CDTF">2006-08-16T00:00:00Z</dcterms:created>
  <dcterms:modified xsi:type="dcterms:W3CDTF">2026-06-09T23:25:27Z</dcterms:modified>
</cp:coreProperties>
</file>